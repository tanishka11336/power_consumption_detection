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8cbee3e-bf32-ed48-b73a-572ab7952777}">
          <p14:sldIdLst>
            <p14:sldId id="256"/>
            <p14:sldId id="257"/>
            <p14:sldId id="258"/>
            <p14:sldId id="259"/>
          </p14:sldIdLst>
        </p14:section>
        <p14:section name="Method" id="{7ee5a19c-b13b-5c87-312c-594fbe992f06}">
          <p14:sldIdLst>
            <p14:sldId id="260"/>
            <p14:sldId id="261"/>
            <p14:sldId id="262"/>
            <p14:sldId id="263"/>
            <p14:sldId id="264"/>
          </p14:sldIdLst>
        </p14:section>
        <p14:section name="Results" id="{f3aff02d-0f89-df0c-b718-8a81f5349ba8}">
          <p14:sldIdLst>
            <p14:sldId id="265"/>
            <p14:sldId id="266"/>
          </p14:sldIdLst>
        </p14:section>
        <p14:section name="Conclusion" id="{fd4c4448-e2f6-9bea-3ddf-ed87c7d6e18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+mn-lt"/>
              </a:rPr>
              <a:t>Correlation of weather variables with total load (Pearson 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 with total load</c:v>
                </c:pt>
              </c:strCache>
            </c:strRef>
          </c:tx>
          <c:spPr>
            <a:solidFill>
              <a:srgbClr val="1B9AD6"/>
            </a:solidFill>
            <a:effectLst/>
          </c:spPr>
          <c:invertIfNegative val="0"/>
          <c:dLbls>
            <c:numFmt formatCode="+0.000;-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A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9A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9A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9AD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Temperature</c:v>
                  </c:pt>
                  <c:pt idx="1">
                    <c:v>Humidity</c:v>
                  </c:pt>
                  <c:pt idx="2">
                    <c:v>Wind speed</c:v>
                  </c:pt>
                  <c:pt idx="3">
                    <c:v>General diffuse</c:v>
                  </c:pt>
                  <c:pt idx="4">
                    <c:v>Diffuse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0.488</c:v>
                </c:pt>
                <c:pt idx="1">
                  <c:v>-0.299</c:v>
                </c:pt>
                <c:pt idx="2">
                  <c:v>0.222</c:v>
                </c:pt>
                <c:pt idx="3">
                  <c:v>0.15</c:v>
                </c:pt>
                <c:pt idx="4">
                  <c:v>0.032</c:v>
                </c:pt>
              </c:numCache>
            </c:numRef>
          </c:val>
        </c:ser>
        <c:dLbls>
          <c:numFmt formatCode="+0.000;-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-0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+mn-lt"/>
              </a:rPr>
              <a:t>Total RMSE (KW), lower is better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RMSE (KW)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A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9A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9A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9AD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Residual-MLP</c:v>
                  </c:pt>
                  <c:pt idx="1">
                    <c:v>LSTM</c:v>
                  </c:pt>
                  <c:pt idx="2">
                    <c:v>GRU</c:v>
                  </c:pt>
                  <c:pt idx="3">
                    <c:v>Transformer</c:v>
                  </c:pt>
                  <c:pt idx="4">
                    <c:v>CNN-BiLSTM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853.1</c:v>
                </c:pt>
                <c:pt idx="1">
                  <c:v>1605.7</c:v>
                </c:pt>
                <c:pt idx="2">
                  <c:v>1823</c:v>
                </c:pt>
                <c:pt idx="3">
                  <c:v>1889.9</c:v>
                </c:pt>
                <c:pt idx="4">
                  <c:v>2247.6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guide. This is the Advance Data Science Lab mini project (PECO412B): Power Consumption Prediction for Tetouan City using deep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Electricity demand is driven by people and weather. Accurate short-term forecasts help utilities balance supply and demand. We used 52,416 ten-minute records from three zones of Tetouan.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errors are costly in both directions. Our objective: predict next-step load for each of the three zones and the total grid, compare five deep models, and deploy the best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is a two-hour window of weather, calendar and load history. Output is the next ten-minute load for each zone plus the total. The best model is served through FastAPI.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comes from UCI. Three zones with different profiles. Zone 1 is downtown (45%), Zone 2 industrial (30%), Zone 3 residential and coastal (25%).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bottoms out around 6 AM and peaks around 8 PM. July and August are highest because of cooling. Temperature has the strongest positive correlation (+0.488), humidity a moderate negative one (-0.299).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70/15/15 in time order. Each time step becomes a 17-dimensional vector. Scalers are fitted on training data only. Inputs are 12-step windows of two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right, top to bottom: raw data, preparation, split, features, window, models, evaluation, persistence, FastAPI backend, and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architectures, one per family: dense residual, two recurrent, attention, and hybrid. All share the input 12 x 17 and output of 3 zone loads. Training configuration is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Residual-MLP wins on every aggregate metric: R2 0.9964, RMSE 853 KW, MAPE 1.06%, and it is also the fastest at 0.004 ms per sample. It beats the persistence baseline on total load. The other four deep models have a higher total RMSE than persistence.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Residual-MLP is accurate on Zones 1 and 2. Zone 3 has the largest relative error (MAPE 4.22%) and is the hardest zone for every model. The dashboard shows the benchmark hub and zone analytics, plus live stream, multi-horizon forecast and what-if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best model, deployment, honest limitations (single year, one-step model, persistence is strong on Zones 2 and 3), and future work.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Power Consumption Prediction  |  Group CMG2  |  Advance Data Science Lab (PECO412B)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640080" y="457200"/>
            <a:ext cx="1005840" cy="118872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Sanjivani Colleg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822960" cy="9637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74520" y="5029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Sanjivani Rural Education Society's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Sanjivani College of Engineering, Kopargaon-423 603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Department of Computer Engineering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 Presentation 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Mini Project Activity  |  Advance Data Science Lab (PECO412B)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1752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Power Consumption Prediction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754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Multi-zone smart-grid load forecasting using deep learning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Case study: Tetouan City, Morocco</a:t>
            </a:r>
            <a:endParaRPr lang="en-US" sz="1800" dirty="0"/>
          </a:p>
        </p:txBody>
      </p:sp>
      <p:sp>
        <p:nvSpPr>
          <p:cNvPr id="9" name="team-card"/>
          <p:cNvSpPr/>
          <p:nvPr/>
        </p:nvSpPr>
        <p:spPr>
          <a:xfrm>
            <a:off x="7589520" y="822960"/>
            <a:ext cx="4023360" cy="5212080"/>
          </a:xfrm>
          <a:prstGeom prst="roundRect">
            <a:avLst>
              <a:gd name="adj" fmla="val 3409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Presented By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1554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Smitraj Dinkar Bankar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UCS23M1009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22677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Tanishka Sharad Bhakare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UCS23F1011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29809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Shraddha Sunil Anap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UCS23F1003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369417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Vaishnavi Sandesh Borse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UCS23F1019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45262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Guided By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Prof. S. A. Shivarkar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Group CMG2  |  B.Tech 7th Sem  |  AY 2026-27 Sem-I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city's electricity demand changes every minute with human activity and weather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Utilities must generate and route exactly that load, so load forecasting is a core smart-grid function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Demand is non-linear and non-stationary, which classical models such as ARIMA struggle to capture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Deep learning on 10-minute telemetry gives accurate zone-wise forecasts in milliseconds</a:t>
            </a:r>
            <a:endParaRPr lang="en-US" sz="2000" dirty="0"/>
          </a:p>
        </p:txBody>
      </p:sp>
      <p:pic>
        <p:nvPicPr>
          <p:cNvPr id="4" name="Image 0" descr="Dashboard: Deep Learning Power Predictor t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49240" cy="240487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stat-card"/>
          <p:cNvSpPr/>
          <p:nvPr/>
        </p:nvSpPr>
        <p:spPr>
          <a:xfrm>
            <a:off x="6309360" y="4160520"/>
            <a:ext cx="1691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4297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52,416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937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telemetry records</a:t>
            </a:r>
            <a:endParaRPr lang="en-US" sz="1400" dirty="0"/>
          </a:p>
        </p:txBody>
      </p:sp>
      <p:sp>
        <p:nvSpPr>
          <p:cNvPr id="8" name="stat-card"/>
          <p:cNvSpPr/>
          <p:nvPr/>
        </p:nvSpPr>
        <p:spPr>
          <a:xfrm>
            <a:off x="8138160" y="4160520"/>
            <a:ext cx="1691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4297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937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distribution zones</a:t>
            </a:r>
            <a:endParaRPr lang="en-US" sz="1400" dirty="0"/>
          </a:p>
        </p:txBody>
      </p:sp>
      <p:sp>
        <p:nvSpPr>
          <p:cNvPr id="11" name="stat-card"/>
          <p:cNvSpPr/>
          <p:nvPr/>
        </p:nvSpPr>
        <p:spPr>
          <a:xfrm>
            <a:off x="9966960" y="4160520"/>
            <a:ext cx="1691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966960" y="4297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 min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966960" y="4937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sampling interval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56692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Our dashboard: Deep Learning Power Predictor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Statement &amp; Objectives</a:t>
            </a:r>
            <a:endParaRPr lang="en-US" sz="3400" dirty="0"/>
          </a:p>
        </p:txBody>
      </p:sp>
      <p:sp>
        <p:nvSpPr>
          <p:cNvPr id="3" name="problem-card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6802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54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Demand depends on weather, time of day and zone behaviour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Over-estimating idles costly reserve plants; under-estimating risks congestion, transformer tripping and blackouts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Manual estimation and ARIMA fail on non-linear, multi-seasonal load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Zones behave very differently, so one aggregate model is not enough</a:t>
            </a:r>
            <a:endParaRPr lang="en-US" sz="1800" dirty="0"/>
          </a:p>
        </p:txBody>
      </p:sp>
      <p:sp>
        <p:nvSpPr>
          <p:cNvPr id="8" name="objectives-card"/>
          <p:cNvSpPr/>
          <p:nvPr/>
        </p:nvSpPr>
        <p:spPr>
          <a:xfrm>
            <a:off x="6217920" y="1371600"/>
            <a:ext cx="544068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64465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FaBulls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6802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32320" y="1554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Objectives</a:t>
            </a:r>
            <a:endParaRPr lang="en-US" sz="2200" dirty="0"/>
          </a:p>
        </p:txBody>
      </p:sp>
      <p:sp>
        <p:nvSpPr>
          <p:cNvPr id="12" name="num-circle"/>
          <p:cNvSpPr/>
          <p:nvPr/>
        </p:nvSpPr>
        <p:spPr>
          <a:xfrm>
            <a:off x="6446520" y="23774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4652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086600" y="2331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Analyse the 52,416-record Tetouan dataset</a:t>
            </a:r>
            <a:endParaRPr lang="en-US" sz="1700" dirty="0"/>
          </a:p>
        </p:txBody>
      </p:sp>
      <p:sp>
        <p:nvSpPr>
          <p:cNvPr id="15" name="num-circle"/>
          <p:cNvSpPr/>
          <p:nvPr/>
        </p:nvSpPr>
        <p:spPr>
          <a:xfrm>
            <a:off x="6446520" y="31272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46520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086600" y="30815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Engineer features and build a leak-free chronological pipeline</a:t>
            </a:r>
            <a:endParaRPr lang="en-US" sz="1700" dirty="0"/>
          </a:p>
        </p:txBody>
      </p:sp>
      <p:sp>
        <p:nvSpPr>
          <p:cNvPr id="18" name="num-circle"/>
          <p:cNvSpPr/>
          <p:nvPr/>
        </p:nvSpPr>
        <p:spPr>
          <a:xfrm>
            <a:off x="6446520" y="3877056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46520" y="3877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086600" y="383133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Train and compare five deep-learning architectures</a:t>
            </a:r>
            <a:endParaRPr lang="en-US" sz="1700" dirty="0"/>
          </a:p>
        </p:txBody>
      </p:sp>
      <p:sp>
        <p:nvSpPr>
          <p:cNvPr id="21" name="num-circle"/>
          <p:cNvSpPr/>
          <p:nvPr/>
        </p:nvSpPr>
        <p:spPr>
          <a:xfrm>
            <a:off x="6446520" y="462686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7086600" y="458114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Evaluate with R², RMSE, MAE, MAPE and latency</a:t>
            </a:r>
            <a:endParaRPr lang="en-US" sz="1700" dirty="0"/>
          </a:p>
        </p:txBody>
      </p:sp>
      <p:sp>
        <p:nvSpPr>
          <p:cNvPr id="24" name="num-circle"/>
          <p:cNvSpPr/>
          <p:nvPr/>
        </p:nvSpPr>
        <p:spPr>
          <a:xfrm>
            <a:off x="6446520" y="537667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46520" y="5376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086600" y="53309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Deploy as a FastAPI service with a live dashboard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Solution</a:t>
            </a:r>
            <a:endParaRPr lang="en-US" sz="3400" dirty="0"/>
          </a:p>
        </p:txBody>
      </p:sp>
      <p:sp>
        <p:nvSpPr>
          <p:cNvPr id="3" name="flow-box"/>
          <p:cNvSpPr/>
          <p:nvPr/>
        </p:nvSpPr>
        <p:spPr>
          <a:xfrm>
            <a:off x="548640" y="1417320"/>
            <a:ext cx="3200400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INPUT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Weather, calendar and recent zone loads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2-hour window: 12 steps × 17 features</a:t>
            </a:r>
            <a:endParaRPr lang="en-US" sz="1500" dirty="0"/>
          </a:p>
        </p:txBody>
      </p:sp>
      <p:sp>
        <p:nvSpPr>
          <p:cNvPr id="6" name="flow-arrow"/>
          <p:cNvSpPr/>
          <p:nvPr/>
        </p:nvSpPr>
        <p:spPr>
          <a:xfrm>
            <a:off x="3840480" y="2103120"/>
            <a:ext cx="548640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flow-box"/>
          <p:cNvSpPr/>
          <p:nvPr/>
        </p:nvSpPr>
        <p:spPr>
          <a:xfrm>
            <a:off x="4480560" y="1417320"/>
            <a:ext cx="3200400" cy="17830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MODEL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9659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Residual-MLP, LSTM, GRU,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Transformer, CNN-BiLSTM</a:t>
            </a:r>
            <a:endParaRPr lang="en-US" sz="1500" dirty="0"/>
          </a:p>
        </p:txBody>
      </p:sp>
      <p:sp>
        <p:nvSpPr>
          <p:cNvPr id="10" name="flow-arrow"/>
          <p:cNvSpPr/>
          <p:nvPr/>
        </p:nvSpPr>
        <p:spPr>
          <a:xfrm>
            <a:off x="7772400" y="2103120"/>
            <a:ext cx="548640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flow-box"/>
          <p:cNvSpPr/>
          <p:nvPr/>
        </p:nvSpPr>
        <p:spPr>
          <a:xfrm>
            <a:off x="8412480" y="1417320"/>
            <a:ext cx="3200400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410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OUTPUT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196596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Next 10-minute load (KW) for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Zone 1, Zone 2, Zone 3 and Total</a:t>
            </a:r>
            <a:endParaRPr lang="en-US" sz="1500" dirty="0"/>
          </a:p>
        </p:txBody>
      </p:sp>
      <p:sp>
        <p:nvSpPr>
          <p:cNvPr id="14" name="feature-card"/>
          <p:cNvSpPr/>
          <p:nvPr/>
        </p:nvSpPr>
        <p:spPr>
          <a:xfrm>
            <a:off x="548640" y="3566160"/>
            <a:ext cx="35661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-circle"/>
          <p:cNvSpPr/>
          <p:nvPr/>
        </p:nvSpPr>
        <p:spPr>
          <a:xfrm>
            <a:off x="822960" y="37490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0" descr="Fa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897630"/>
            <a:ext cx="297180" cy="2971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22960" y="4480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Next-step forecasting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Predicts every zone and the whole grid at once, so dispatchers see where a peak will land</a:t>
            </a:r>
            <a:endParaRPr lang="en-US" sz="1400" dirty="0"/>
          </a:p>
        </p:txBody>
      </p:sp>
      <p:sp>
        <p:nvSpPr>
          <p:cNvPr id="19" name="feature-card"/>
          <p:cNvSpPr/>
          <p:nvPr/>
        </p:nvSpPr>
        <p:spPr>
          <a:xfrm>
            <a:off x="4297680" y="3566160"/>
            <a:ext cx="35661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-circle"/>
          <p:cNvSpPr/>
          <p:nvPr/>
        </p:nvSpPr>
        <p:spPr>
          <a:xfrm>
            <a:off x="4572000" y="374904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1" descr="Fa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389763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572000" y="4480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Five architectures, one protocol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0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Strictly chronological, leak-free evaluation so the models are compared fairly</a:t>
            </a:r>
            <a:endParaRPr lang="en-US" sz="1400" dirty="0"/>
          </a:p>
        </p:txBody>
      </p:sp>
      <p:sp>
        <p:nvSpPr>
          <p:cNvPr id="24" name="feature-card"/>
          <p:cNvSpPr/>
          <p:nvPr/>
        </p:nvSpPr>
        <p:spPr>
          <a:xfrm>
            <a:off x="8046720" y="3566160"/>
            <a:ext cx="35661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-circle"/>
          <p:cNvSpPr/>
          <p:nvPr/>
        </p:nvSpPr>
        <p:spPr>
          <a:xfrm>
            <a:off x="8321040" y="3749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2" descr="Fa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3897630"/>
            <a:ext cx="297180" cy="29718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321040" y="4480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Deployed on FastAPI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321040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 endpoints plus a Chart.js dashboard: live stream, multi-horizon forecast and what-if sandbox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Dataset Description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SOURCE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6420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UCI "Power Consumption of Tetouan City" (Salam &amp; El Hibaoui)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0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SIZE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4261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52,416 records × 9 columns, one every 10 minutes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28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PERIOD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2102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 Jan to 30 Dec 2017, no missing values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06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INPUTS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994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Temperature, humidity, wind speed, two solar-diffuse indices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85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TARGETS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77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Zone 1, 2, 3 power (KW); Total = Z1 + Z2 + Z3</a:t>
            </a:r>
            <a:endParaRPr lang="en-US" sz="1700" dirty="0"/>
          </a:p>
        </p:txBody>
      </p:sp>
      <p:graphicFrame>
        <p:nvGraphicFramePr>
          <p:cNvPr id="6" name="zon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63040"/>
          <a:ext cx="58064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965960"/>
                <a:gridCol w="1005840"/>
                <a:gridCol w="1097280"/>
                <a:gridCol w="914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Zone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Profile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 (KW)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Peak (KW)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Zone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Downtown commercial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32,345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52,204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45.4%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Zone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Industrial corridor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21,043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37,409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29.5%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Zone 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Residential &amp; coastal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17,835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47,598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25.0%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Whole grid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71,223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134,208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852160" y="443484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Zone profiles are taken from the project documentation; the dataset labels them only as Zone 1, 2 and 3.</a:t>
            </a:r>
            <a:endParaRPr lang="en-US" sz="1100" dirty="0"/>
          </a:p>
        </p:txBody>
      </p:sp>
      <p:sp>
        <p:nvSpPr>
          <p:cNvPr id="15" name="insight-card"/>
          <p:cNvSpPr/>
          <p:nvPr/>
        </p:nvSpPr>
        <p:spPr>
          <a:xfrm>
            <a:off x="5852160" y="5029200"/>
            <a:ext cx="58064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circle"/>
          <p:cNvSpPr/>
          <p:nvPr/>
        </p:nvSpPr>
        <p:spPr>
          <a:xfrm>
            <a:off x="6080760" y="5212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0" descr="Fa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53949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995160" y="51206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Zone 1 carries almost half of the city load; Zone 3 is the most variable (tourism and households).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Exploratory Data Analysis</a:t>
            </a:r>
            <a:endParaRPr lang="en-US" sz="3400" dirty="0"/>
          </a:p>
        </p:txBody>
      </p:sp>
      <p:pic>
        <p:nvPicPr>
          <p:cNvPr id="3" name="Image 0" descr="Average load by hour of day and by mon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2459736"/>
          </a:xfrm>
          <a:prstGeom prst="rect">
            <a:avLst/>
          </a:prstGeom>
        </p:spPr>
      </p:pic>
      <p:graphicFrame>
        <p:nvGraphicFramePr>
          <p:cNvPr id="4" name="Chart 0" descr=""/>
          <p:cNvGraphicFramePr/>
          <p:nvPr/>
        </p:nvGraphicFramePr>
        <p:xfrm>
          <a:off x="548640" y="3931920"/>
          <a:ext cx="67665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insight-card"/>
          <p:cNvSpPr/>
          <p:nvPr/>
        </p:nvSpPr>
        <p:spPr>
          <a:xfrm>
            <a:off x="7680960" y="132588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09560" y="1463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20:00</a:t>
            </a:r>
            <a:endParaRPr lang="en-US" sz="3800" dirty="0"/>
          </a:p>
        </p:txBody>
      </p:sp>
      <p:sp>
        <p:nvSpPr>
          <p:cNvPr id="7" name="Text 3"/>
          <p:cNvSpPr txBox="1"/>
          <p:nvPr/>
        </p:nvSpPr>
        <p:spPr>
          <a:xfrm>
            <a:off x="790956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evening peak, 98,037 KW</a:t>
            </a:r>
            <a:endParaRPr lang="en-US" sz="1600" dirty="0"/>
          </a:p>
        </p:txBody>
      </p:sp>
      <p:sp>
        <p:nvSpPr>
          <p:cNvPr id="8" name="insight-card"/>
          <p:cNvSpPr/>
          <p:nvPr/>
        </p:nvSpPr>
        <p:spPr>
          <a:xfrm>
            <a:off x="7680960" y="297180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09560" y="3108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06:00</a:t>
            </a:r>
            <a:endParaRPr lang="en-US" sz="38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daily low, 50,190 KW</a:t>
            </a:r>
            <a:endParaRPr lang="en-US" sz="1600" dirty="0"/>
          </a:p>
        </p:txBody>
      </p:sp>
      <p:sp>
        <p:nvSpPr>
          <p:cNvPr id="11" name="insight-card"/>
          <p:cNvSpPr/>
          <p:nvPr/>
        </p:nvSpPr>
        <p:spPr>
          <a:xfrm>
            <a:off x="7680960" y="461772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09560" y="4754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5"/>
                </a:solidFill>
              </a:rPr>
              <a:t>July</a:t>
            </a:r>
            <a:endParaRPr lang="en-US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7909560" y="5486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highest month, 88,174 KW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Pre-processing &amp; Feature Engineering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Strictly chronological split: no shuffling, so no future information leaks into training</a:t>
            </a:r>
            <a:endParaRPr lang="en-US" sz="1600" dirty="0"/>
          </a:p>
        </p:txBody>
      </p:sp>
      <p:sp>
        <p:nvSpPr>
          <p:cNvPr id="4" name="split-block"/>
          <p:cNvSpPr/>
          <p:nvPr/>
        </p:nvSpPr>
        <p:spPr>
          <a:xfrm>
            <a:off x="548640" y="1737360"/>
            <a:ext cx="7699248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7699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Training 70%  |  36,691 records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 Jan to about 13 Sep</a:t>
            </a:r>
            <a:endParaRPr lang="en-US" sz="1400" dirty="0"/>
          </a:p>
        </p:txBody>
      </p:sp>
      <p:sp>
        <p:nvSpPr>
          <p:cNvPr id="6" name="split-block"/>
          <p:cNvSpPr/>
          <p:nvPr/>
        </p:nvSpPr>
        <p:spPr>
          <a:xfrm>
            <a:off x="8293608" y="1737360"/>
            <a:ext cx="1613916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93608" y="1737360"/>
            <a:ext cx="16139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 15%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7,862</a:t>
            </a:r>
            <a:endParaRPr lang="en-US" sz="1400" dirty="0"/>
          </a:p>
        </p:txBody>
      </p:sp>
      <p:sp>
        <p:nvSpPr>
          <p:cNvPr id="8" name="split-block"/>
          <p:cNvSpPr/>
          <p:nvPr/>
        </p:nvSpPr>
        <p:spPr>
          <a:xfrm>
            <a:off x="9953244" y="1737360"/>
            <a:ext cx="1613916" cy="7772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53244" y="1737360"/>
            <a:ext cx="16139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 15%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7,863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17-dimensional feature vector per time step</a:t>
            </a:r>
            <a:endParaRPr lang="en-US" sz="1600" dirty="0"/>
          </a:p>
        </p:txBody>
      </p:sp>
      <p:sp>
        <p:nvSpPr>
          <p:cNvPr id="11" name="feature-group"/>
          <p:cNvSpPr/>
          <p:nvPr/>
        </p:nvSpPr>
        <p:spPr>
          <a:xfrm>
            <a:off x="548640" y="3200400"/>
            <a:ext cx="21031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735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Weather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2452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temperature, humidity, wind, 2 solar indices</a:t>
            </a:r>
            <a:endParaRPr lang="en-US" sz="1200" dirty="0"/>
          </a:p>
        </p:txBody>
      </p:sp>
      <p:sp>
        <p:nvSpPr>
          <p:cNvPr id="15" name="feature-group"/>
          <p:cNvSpPr/>
          <p:nvPr/>
        </p:nvSpPr>
        <p:spPr>
          <a:xfrm>
            <a:off x="2788920" y="3200400"/>
            <a:ext cx="21031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1800" y="32735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Physical proxies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422452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heat index, total solar flux</a:t>
            </a:r>
            <a:endParaRPr lang="en-US" sz="1200" dirty="0"/>
          </a:p>
        </p:txBody>
      </p:sp>
      <p:sp>
        <p:nvSpPr>
          <p:cNvPr id="19" name="feature-group"/>
          <p:cNvSpPr/>
          <p:nvPr/>
        </p:nvSpPr>
        <p:spPr>
          <a:xfrm>
            <a:off x="5029200" y="3200400"/>
            <a:ext cx="21031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32735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6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Cyclical time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22452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sin/cos of hour, month, day of week</a:t>
            </a:r>
            <a:endParaRPr lang="en-US" sz="1200" dirty="0"/>
          </a:p>
        </p:txBody>
      </p:sp>
      <p:sp>
        <p:nvSpPr>
          <p:cNvPr id="23" name="feature-group"/>
          <p:cNvSpPr/>
          <p:nvPr/>
        </p:nvSpPr>
        <p:spPr>
          <a:xfrm>
            <a:off x="7269480" y="3200400"/>
            <a:ext cx="21031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32735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Calendar flag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22452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weekend indicator</a:t>
            </a:r>
            <a:endParaRPr lang="en-US" sz="1200" dirty="0"/>
          </a:p>
        </p:txBody>
      </p:sp>
      <p:sp>
        <p:nvSpPr>
          <p:cNvPr id="27" name="feature-group"/>
          <p:cNvSpPr/>
          <p:nvPr/>
        </p:nvSpPr>
        <p:spPr>
          <a:xfrm>
            <a:off x="9509760" y="3200400"/>
            <a:ext cx="21031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92640" y="32735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3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886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Lagged loads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422452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Zone 1, 2, 3 at current step</a:t>
            </a:r>
            <a:endParaRPr lang="en-US" sz="1200" dirty="0"/>
          </a:p>
        </p:txBody>
      </p:sp>
      <p:sp>
        <p:nvSpPr>
          <p:cNvPr id="31" name="step-pill"/>
          <p:cNvSpPr/>
          <p:nvPr/>
        </p:nvSpPr>
        <p:spPr>
          <a:xfrm>
            <a:off x="548640" y="530352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icon-circle"/>
          <p:cNvSpPr/>
          <p:nvPr/>
        </p:nvSpPr>
        <p:spPr>
          <a:xfrm>
            <a:off x="731520" y="546811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mage 0" descr="Fa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605272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417320" y="5303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StandardScaler fitted on training data only</a:t>
            </a:r>
            <a:endParaRPr lang="en-US" sz="1400" dirty="0"/>
          </a:p>
        </p:txBody>
      </p:sp>
      <p:sp>
        <p:nvSpPr>
          <p:cNvPr id="35" name="step-pill"/>
          <p:cNvSpPr/>
          <p:nvPr/>
        </p:nvSpPr>
        <p:spPr>
          <a:xfrm>
            <a:off x="4297680" y="530352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icon-circle"/>
          <p:cNvSpPr/>
          <p:nvPr/>
        </p:nvSpPr>
        <p:spPr>
          <a:xfrm>
            <a:off x="4480560" y="546811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Image 1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5605272"/>
            <a:ext cx="274320" cy="27432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5166360" y="5303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12-step (2 h) sliding window: B × 12 × 17</a:t>
            </a:r>
            <a:endParaRPr lang="en-US" sz="1400" dirty="0"/>
          </a:p>
        </p:txBody>
      </p:sp>
      <p:sp>
        <p:nvSpPr>
          <p:cNvPr id="39" name="step-pill"/>
          <p:cNvSpPr/>
          <p:nvPr/>
        </p:nvSpPr>
        <p:spPr>
          <a:xfrm>
            <a:off x="8046720" y="530352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icon-circle"/>
          <p:cNvSpPr/>
          <p:nvPr/>
        </p:nvSpPr>
        <p:spPr>
          <a:xfrm>
            <a:off x="8229600" y="546811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1" name="Image 2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5605272"/>
            <a:ext cx="274320" cy="27432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8915400" y="53035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Huber loss and gradient clipping handle sensor spikes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Architecture</a:t>
            </a:r>
            <a:endParaRPr lang="en-US" sz="3400" dirty="0"/>
          </a:p>
        </p:txBody>
      </p:sp>
      <p:pic>
        <p:nvPicPr>
          <p:cNvPr id="3" name="Image 0" descr="End-to-end multi-zone forecasting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675120" cy="4855464"/>
          </a:xfrm>
          <a:prstGeom prst="rect">
            <a:avLst/>
          </a:prstGeom>
        </p:spPr>
      </p:pic>
      <p:sp>
        <p:nvSpPr>
          <p:cNvPr id="4" name="num-circle"/>
          <p:cNvSpPr/>
          <p:nvPr/>
        </p:nvSpPr>
        <p:spPr>
          <a:xfrm>
            <a:off x="7589520" y="1444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8952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Raw telemetry from power consumption.csv</a:t>
            </a:r>
            <a:endParaRPr lang="en-US" sz="1500" dirty="0"/>
          </a:p>
        </p:txBody>
      </p:sp>
      <p:sp>
        <p:nvSpPr>
          <p:cNvPr id="7" name="num-circle"/>
          <p:cNvSpPr/>
          <p:nvPr/>
        </p:nvSpPr>
        <p:spPr>
          <a:xfrm>
            <a:off x="7589520" y="22311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215798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Cleaning and chronological split</a:t>
            </a:r>
            <a:endParaRPr lang="en-US" sz="1500" dirty="0"/>
          </a:p>
        </p:txBody>
      </p:sp>
      <p:sp>
        <p:nvSpPr>
          <p:cNvPr id="10" name="num-circle"/>
          <p:cNvSpPr/>
          <p:nvPr/>
        </p:nvSpPr>
        <p:spPr>
          <a:xfrm>
            <a:off x="758952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94436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Feature engineering and 12-step window</a:t>
            </a:r>
            <a:endParaRPr lang="en-US" sz="1500" dirty="0"/>
          </a:p>
        </p:txBody>
      </p:sp>
      <p:sp>
        <p:nvSpPr>
          <p:cNvPr id="13" name="num-circle"/>
          <p:cNvSpPr/>
          <p:nvPr/>
        </p:nvSpPr>
        <p:spPr>
          <a:xfrm>
            <a:off x="7589520" y="38039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73075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Train five deep networks</a:t>
            </a:r>
            <a:endParaRPr lang="en-US" sz="1500" dirty="0"/>
          </a:p>
        </p:txBody>
      </p:sp>
      <p:sp>
        <p:nvSpPr>
          <p:cNvPr id="16" name="num-circle"/>
          <p:cNvSpPr/>
          <p:nvPr/>
        </p:nvSpPr>
        <p:spPr>
          <a:xfrm>
            <a:off x="7589520" y="45902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451713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Evaluate: R², RMSE, MAE, MAPE</a:t>
            </a:r>
            <a:endParaRPr lang="en-US" sz="1500" dirty="0"/>
          </a:p>
        </p:txBody>
      </p:sp>
      <p:sp>
        <p:nvSpPr>
          <p:cNvPr id="19" name="num-circle"/>
          <p:cNvSpPr/>
          <p:nvPr/>
        </p:nvSpPr>
        <p:spPr>
          <a:xfrm>
            <a:off x="7589520" y="5376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530352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Serve via FastAPI + web dashboard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Deep Learning Models Compared</a:t>
            </a:r>
            <a:endParaRPr lang="en-US" sz="3400" dirty="0"/>
          </a:p>
        </p:txBody>
      </p:sp>
      <p:sp>
        <p:nvSpPr>
          <p:cNvPr id="3" name="model-card"/>
          <p:cNvSpPr/>
          <p:nvPr/>
        </p:nvSpPr>
        <p:spPr>
          <a:xfrm>
            <a:off x="548640" y="137160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DENSE RESNET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Residual-MLP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60,163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parameters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204 → 128 units, two residual blocks (LayerNorm, GELU)</a:t>
            </a:r>
            <a:endParaRPr lang="en-US" sz="1400" dirty="0"/>
          </a:p>
        </p:txBody>
      </p:sp>
      <p:sp>
        <p:nvSpPr>
          <p:cNvPr id="8" name="best-badge"/>
          <p:cNvSpPr/>
          <p:nvPr/>
        </p:nvSpPr>
        <p:spPr>
          <a:xfrm>
            <a:off x="1645920" y="109728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1097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BEST</a:t>
            </a:r>
            <a:endParaRPr lang="en-US" sz="1200" dirty="0"/>
          </a:p>
        </p:txBody>
      </p:sp>
      <p:sp>
        <p:nvSpPr>
          <p:cNvPr id="10" name="model-card"/>
          <p:cNvSpPr/>
          <p:nvPr/>
        </p:nvSpPr>
        <p:spPr>
          <a:xfrm>
            <a:off x="2788920" y="137160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RECURRENT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LSTM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377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56,707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parameters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layers, hidden size 64, gated memory cell</a:t>
            </a:r>
            <a:endParaRPr lang="en-US" sz="1400" dirty="0"/>
          </a:p>
        </p:txBody>
      </p:sp>
      <p:sp>
        <p:nvSpPr>
          <p:cNvPr id="15" name="model-card"/>
          <p:cNvSpPr/>
          <p:nvPr/>
        </p:nvSpPr>
        <p:spPr>
          <a:xfrm>
            <a:off x="5029200" y="137160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RECURRENT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GRU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377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43,075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parameters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layers, hidden size 64, update and reset gates</a:t>
            </a:r>
            <a:endParaRPr lang="en-US" sz="1400" dirty="0"/>
          </a:p>
        </p:txBody>
      </p:sp>
      <p:sp>
        <p:nvSpPr>
          <p:cNvPr id="20" name="model-card"/>
          <p:cNvSpPr/>
          <p:nvPr/>
        </p:nvSpPr>
        <p:spPr>
          <a:xfrm>
            <a:off x="7269480" y="137160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5236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SELF-ATTENTION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Transformer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377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70,275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parameters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encoder layers, 4 heads, d_model 64</a:t>
            </a:r>
            <a:endParaRPr lang="en-US" sz="1400" dirty="0"/>
          </a:p>
        </p:txBody>
      </p:sp>
      <p:sp>
        <p:nvSpPr>
          <p:cNvPr id="25" name="model-card"/>
          <p:cNvSpPr/>
          <p:nvPr/>
        </p:nvSpPr>
        <p:spPr>
          <a:xfrm>
            <a:off x="9509760" y="1371600"/>
            <a:ext cx="2103120" cy="34290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HYBRID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CNN-BiLSTM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23774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30,723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parameters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Conv1D (64 filters) feeding a bidirectional LSTM</a:t>
            </a:r>
            <a:endParaRPr lang="en-US" sz="1400" dirty="0"/>
          </a:p>
        </p:txBody>
      </p:sp>
      <p:sp>
        <p:nvSpPr>
          <p:cNvPr id="30" name="config-card"/>
          <p:cNvSpPr/>
          <p:nvPr/>
        </p:nvSpPr>
        <p:spPr>
          <a:xfrm>
            <a:off x="548640" y="5074920"/>
            <a:ext cx="26974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Huber loss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δ = 1.0, robust to spikes</a:t>
            </a:r>
            <a:endParaRPr lang="en-US" sz="1400" dirty="0"/>
          </a:p>
        </p:txBody>
      </p:sp>
      <p:sp>
        <p:nvSpPr>
          <p:cNvPr id="33" name="config-card"/>
          <p:cNvSpPr/>
          <p:nvPr/>
        </p:nvSpPr>
        <p:spPr>
          <a:xfrm>
            <a:off x="3364992" y="5074920"/>
            <a:ext cx="26974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47872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AdamW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3547872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lr 1e-3, weight decay 1e-4</a:t>
            </a:r>
            <a:endParaRPr lang="en-US" sz="1400" dirty="0"/>
          </a:p>
        </p:txBody>
      </p:sp>
      <p:sp>
        <p:nvSpPr>
          <p:cNvPr id="36" name="config-card"/>
          <p:cNvSpPr/>
          <p:nvPr/>
        </p:nvSpPr>
        <p:spPr>
          <a:xfrm>
            <a:off x="6181344" y="5074920"/>
            <a:ext cx="26974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64224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12 epochs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batch 128, LR on plateau</a:t>
            </a:r>
            <a:endParaRPr lang="en-US" sz="1400" dirty="0"/>
          </a:p>
        </p:txBody>
      </p:sp>
      <p:sp>
        <p:nvSpPr>
          <p:cNvPr id="39" name="config-card"/>
          <p:cNvSpPr/>
          <p:nvPr/>
        </p:nvSpPr>
        <p:spPr>
          <a:xfrm>
            <a:off x="8997696" y="5074920"/>
            <a:ext cx="26974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80576" y="5193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CPU, seed 42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9180576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val-loss checkpoint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Results: Model Benchmark</a:t>
            </a:r>
            <a:endParaRPr lang="en-US" sz="3400" dirty="0"/>
          </a:p>
        </p:txBody>
      </p:sp>
      <p:graphicFrame>
        <p:nvGraphicFramePr>
          <p:cNvPr id="11" name="resul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0408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868680"/>
                <a:gridCol w="1188720"/>
                <a:gridCol w="1143000"/>
                <a:gridCol w="914400"/>
                <a:gridCol w="1143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RMSE (KW)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MAE (KW)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MAPE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ms/sample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Residual-MLP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0.9964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853.1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640.9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1.06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0.004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LSTM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0.9873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1,605.7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1,301.9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2.05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GRU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0.9836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1,823.0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1,580.9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2.68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Transformer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0.9824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1,889.9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1,529.6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2.48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11827"/>
                          </a:solidFill>
                        </a:rPr>
                        <a:t>CNN-BiLSTM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0.9751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2,247.6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1,960.7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3.34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</a:rPr>
                        <a:t>0.046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64748B"/>
                          </a:solidFill>
                        </a:rPr>
                        <a:t>Persistence baseline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64748B"/>
                          </a:solidFill>
                        </a:rPr>
                        <a:t>0.9932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64748B"/>
                          </a:solidFill>
                        </a:rPr>
                        <a:t>1,177.9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64748B"/>
                          </a:solidFill>
                        </a:rPr>
                        <a:t>786.2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64748B"/>
                          </a:solidFill>
                        </a:rPr>
                        <a:t>1.24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Evaluated on 7,851 unseen windows (about 6 Nov to 30 Dec 2017), total grid load.</a:t>
            </a:r>
            <a:endParaRPr lang="en-US" sz="1100" dirty="0"/>
          </a:p>
        </p:txBody>
      </p:sp>
      <p:sp>
        <p:nvSpPr>
          <p:cNvPr id="5" name="kpi-card"/>
          <p:cNvSpPr/>
          <p:nvPr/>
        </p:nvSpPr>
        <p:spPr>
          <a:xfrm>
            <a:off x="548640" y="5440680"/>
            <a:ext cx="22402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440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0.9964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R² (total load)</a:t>
            </a:r>
            <a:endParaRPr lang="en-US" sz="2200" dirty="0"/>
          </a:p>
        </p:txBody>
      </p:sp>
      <p:sp>
        <p:nvSpPr>
          <p:cNvPr id="7" name="kpi-card"/>
          <p:cNvSpPr/>
          <p:nvPr/>
        </p:nvSpPr>
        <p:spPr>
          <a:xfrm>
            <a:off x="2926080" y="5440680"/>
            <a:ext cx="22402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26080" y="5440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1.06%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MAPE</a:t>
            </a:r>
            <a:endParaRPr lang="en-US" sz="2200" dirty="0"/>
          </a:p>
        </p:txBody>
      </p:sp>
      <p:sp>
        <p:nvSpPr>
          <p:cNvPr id="9" name="kpi-card"/>
          <p:cNvSpPr/>
          <p:nvPr/>
        </p:nvSpPr>
        <p:spPr>
          <a:xfrm>
            <a:off x="5303520" y="5440680"/>
            <a:ext cx="224028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0" y="54406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−47%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RMSE vs LSTM</a:t>
            </a:r>
            <a:endParaRPr lang="en-US" sz="2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863840" y="1325880"/>
          <a:ext cx="37947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Zone-wise Results &amp; Dashboard</a:t>
            </a:r>
            <a:endParaRPr lang="en-US" sz="3400" dirty="0"/>
          </a:p>
        </p:txBody>
      </p:sp>
      <p:sp>
        <p:nvSpPr>
          <p:cNvPr id="3" name="zone-card"/>
          <p:cNvSpPr/>
          <p:nvPr/>
        </p:nvSpPr>
        <p:spPr>
          <a:xfrm>
            <a:off x="548640" y="132588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Zone 1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Downtown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0.9945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R²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448 KW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RMSE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1.25%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MAPE</a:t>
            </a:r>
            <a:endParaRPr lang="en-US" sz="1200" dirty="0"/>
          </a:p>
        </p:txBody>
      </p:sp>
      <p:sp>
        <p:nvSpPr>
          <p:cNvPr id="11" name="zone-card"/>
          <p:cNvSpPr/>
          <p:nvPr/>
        </p:nvSpPr>
        <p:spPr>
          <a:xfrm>
            <a:off x="4297680" y="132588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Zone 2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Industrial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0.9919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R²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505 KW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RMSE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1.50%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MAPE</a:t>
            </a:r>
            <a:endParaRPr lang="en-US" sz="1200" dirty="0"/>
          </a:p>
        </p:txBody>
      </p:sp>
      <p:sp>
        <p:nvSpPr>
          <p:cNvPr id="19" name="zone-card"/>
          <p:cNvSpPr/>
          <p:nvPr/>
        </p:nvSpPr>
        <p:spPr>
          <a:xfrm>
            <a:off x="8046720" y="132588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Zone 3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Residential, hardest zone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0.9715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R²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567 KW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RMSE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46988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4.22%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46988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MAPE</a:t>
            </a:r>
            <a:endParaRPr lang="en-US" sz="1200" dirty="0"/>
          </a:p>
        </p:txBody>
      </p:sp>
      <p:pic>
        <p:nvPicPr>
          <p:cNvPr id="27" name="Image 0" descr="Dashboard: Model Benchmark 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5440680" cy="247802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pic>
        <p:nvPicPr>
          <p:cNvPr id="28" name="Image 1" descr="Dashboard: Zone Consumption Analyt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154680"/>
            <a:ext cx="5440680" cy="250545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29" name="Text 25"/>
          <p:cNvSpPr txBox="1"/>
          <p:nvPr/>
        </p:nvSpPr>
        <p:spPr>
          <a:xfrm>
            <a:off x="548640" y="5852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Model Benchmark Hub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217920" y="5852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Zone Consumption Analytics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Built a deep-learning smart-grid forecaster on 52,416 ten-minute records from three Tetouan zones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Residual-MLP is best: R² 0.9964, RMSE 853 KW, MAPE 1.06%, 0.004 ms per sample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It beats the persistence baseline on total load; Zone 3 stays the hardest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FastAPI and the dashboard give live monitoring, multi-hour projection and what-if analysis</a:t>
            </a:r>
            <a:endParaRPr lang="en-US" sz="1700" dirty="0"/>
          </a:p>
        </p:txBody>
      </p:sp>
      <p:sp>
        <p:nvSpPr>
          <p:cNvPr id="4" name="outlook-card"/>
          <p:cNvSpPr/>
          <p:nvPr/>
        </p:nvSpPr>
        <p:spPr>
          <a:xfrm>
            <a:off x="6583680" y="1371600"/>
            <a:ext cx="507492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1228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12280" y="190195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year of data (2017), no holiday effects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One-step model, no hyper-parameter search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Persistence is competitive in Zones 2 and 3</a:t>
            </a:r>
            <a:endParaRPr lang="en-US" sz="1400" dirty="0"/>
          </a:p>
        </p:txBody>
      </p:sp>
      <p:sp>
        <p:nvSpPr>
          <p:cNvPr id="7" name="outlook-card"/>
          <p:cNvSpPr/>
          <p:nvPr/>
        </p:nvSpPr>
        <p:spPr>
          <a:xfrm>
            <a:off x="6583680" y="3337560"/>
            <a:ext cx="5074920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0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386791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Multi-year data and tourism calendars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Residual and multi-horizon learning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Probabilistic intervals; SCADA and edge deployment</a:t>
            </a:r>
            <a:endParaRPr lang="en-US" sz="1400" dirty="0"/>
          </a:p>
        </p:txBody>
      </p:sp>
      <p:sp>
        <p:nvSpPr>
          <p:cNvPr id="10" name="icon-circle"/>
          <p:cNvSpPr/>
          <p:nvPr/>
        </p:nvSpPr>
        <p:spPr>
          <a:xfrm>
            <a:off x="4892040" y="544068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0" descr="Fa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3490" y="5612130"/>
            <a:ext cx="342900" cy="3429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60720" y="5440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Pulse">
  <a:themeElements>
    <a:clrScheme name="GridPulse">
      <a:dk1>
        <a:srgbClr val="111827"/>
      </a:dk1>
      <a:lt1>
        <a:srgbClr val="FFFFFF"/>
      </a:lt1>
      <a:dk2>
        <a:srgbClr val="0B2559"/>
      </a:dk2>
      <a:lt2>
        <a:srgbClr val="EEF3FA"/>
      </a:lt2>
      <a:accent1>
        <a:srgbClr val="1B9AD6"/>
      </a:accent1>
      <a:accent2>
        <a:srgbClr val="F59E0B"/>
      </a:accent2>
      <a:accent3>
        <a:srgbClr val="10B981"/>
      </a:accent3>
      <a:accent4>
        <a:srgbClr val="7C5CFC"/>
      </a:accent4>
      <a:accent5>
        <a:srgbClr val="E5484D"/>
      </a:accent5>
      <a:accent6>
        <a:srgbClr val="64748B"/>
      </a:accent6>
      <a:hlink>
        <a:srgbClr val="1B9AD6"/>
      </a:hlink>
      <a:folHlink>
        <a:srgbClr val="7C5CFC"/>
      </a:folHlink>
    </a:clrScheme>
    <a:fontScheme name="GridPul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Consumption Prediction - CMG2</dc:title>
  <dc:subject>PptxGenJS Presentation</dc:subject>
  <dc:creator>Group CMG2</dc:creator>
  <cp:lastModifiedBy>Group CMG2</cp:lastModifiedBy>
  <cp:revision>1</cp:revision>
  <dcterms:created xsi:type="dcterms:W3CDTF">2026-10-08T05:07:18Z</dcterms:created>
  <dcterms:modified xsi:type="dcterms:W3CDTF">2026-10-08T05:07:18Z</dcterms:modified>
</cp:coreProperties>
</file>